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822960"/>
            <a:ext cx="146304" cy="146304"/>
          </a:xfrm>
          <a:prstGeom prst="ellipse">
            <a:avLst/>
          </a:prstGeom>
          <a:solidFill>
            <a:srgbClr val="5FC9C0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137160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9235440" y="1737360"/>
            <a:ext cx="146304" cy="146304"/>
          </a:xfrm>
          <a:prstGeom prst="ellipse">
            <a:avLst/>
          </a:prstGeom>
          <a:solidFill>
            <a:srgbClr val="5FC9C0"/>
          </a:solidFill>
          <a:ln/>
        </p:spPr>
      </p:sp>
      <p:sp>
        <p:nvSpPr>
          <p:cNvPr id="5" name="Shape 3"/>
          <p:cNvSpPr/>
          <p:nvPr/>
        </p:nvSpPr>
        <p:spPr>
          <a:xfrm>
            <a:off x="11247120" y="21031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0" y="2377440"/>
            <a:ext cx="146304" cy="146304"/>
          </a:xfrm>
          <a:prstGeom prst="ellipse">
            <a:avLst/>
          </a:prstGeom>
          <a:solidFill>
            <a:srgbClr val="5FC9C0"/>
          </a:solidFill>
          <a:ln/>
        </p:spPr>
      </p:sp>
      <p:sp>
        <p:nvSpPr>
          <p:cNvPr id="7" name="Shape 5"/>
          <p:cNvSpPr/>
          <p:nvPr/>
        </p:nvSpPr>
        <p:spPr>
          <a:xfrm>
            <a:off x="9765792" y="896112"/>
            <a:ext cx="1005840" cy="548640"/>
          </a:xfrm>
          <a:prstGeom prst="line">
            <a:avLst/>
          </a:prstGeom>
          <a:noFill/>
          <a:ln w="12700">
            <a:solidFill>
              <a:srgbClr val="3350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1444752"/>
            <a:ext cx="1463040" cy="365760"/>
          </a:xfrm>
          <a:prstGeom prst="line">
            <a:avLst/>
          </a:prstGeom>
          <a:noFill/>
          <a:ln w="12700">
            <a:solidFill>
              <a:srgbClr val="33507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08592" y="1810512"/>
            <a:ext cx="2011680" cy="365760"/>
          </a:xfrm>
          <a:prstGeom prst="line">
            <a:avLst/>
          </a:prstGeom>
          <a:noFill/>
          <a:ln w="12700">
            <a:solidFill>
              <a:srgbClr val="33507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31552" y="2176272"/>
            <a:ext cx="1188720" cy="274320"/>
          </a:xfrm>
          <a:prstGeom prst="line">
            <a:avLst/>
          </a:prstGeom>
          <a:noFill/>
          <a:ln w="12700">
            <a:solidFill>
              <a:srgbClr val="33507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 •  CLOUD NETWORKING PROJECT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2860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Private DNS Zone Solution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429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Private Endpoint Name Resolution Across Multi-VNet and Hybrid On-Premises Networks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4343400"/>
            <a:ext cx="51206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892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2400030424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Aluru Sai Vamsi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4892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2400030297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Gudivada Dundi Sankar Abhinash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4589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2400030207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Thanniru Anusha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54589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2400030113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 Yuva Teja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Members &amp; Roles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822960" cy="0"/>
          </a:xfrm>
          <a:prstGeom prst="line">
            <a:avLst/>
          </a:prstGeom>
          <a:noFill/>
          <a:ln w="38100">
            <a:solidFill>
              <a:srgbClr val="5FC9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48740" y="23317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48740" y="2331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5661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Aluru Sai Vamsi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206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2400030424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4663440"/>
            <a:ext cx="1691640" cy="0"/>
          </a:xfrm>
          <a:prstGeom prst="line">
            <a:avLst/>
          </a:prstGeom>
          <a:noFill/>
          <a:ln w="12700">
            <a:solidFill>
              <a:srgbClr val="E1E8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8006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DNS Zone Design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10712" y="196596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10812" y="23317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210812" y="2331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547872" y="35661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Gudivada Dundi Sankar Abhinash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547872" y="4206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2400030297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67912" y="4663440"/>
            <a:ext cx="1691640" cy="0"/>
          </a:xfrm>
          <a:prstGeom prst="line">
            <a:avLst/>
          </a:prstGeom>
          <a:noFill/>
          <a:ln w="12700">
            <a:solidFill>
              <a:srgbClr val="E1E8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93592" y="48006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&amp; VNet Configuration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72784" y="196596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72884" y="23317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072884" y="2331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409944" y="35661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Thanniru Anusha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9944" y="4206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2400030207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29984" y="4663440"/>
            <a:ext cx="1691640" cy="0"/>
          </a:xfrm>
          <a:prstGeom prst="line">
            <a:avLst/>
          </a:prstGeom>
          <a:noFill/>
          <a:ln w="12700">
            <a:solidFill>
              <a:srgbClr val="E1E8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55664" y="48006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Access Management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134856" y="196596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934956" y="23317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934956" y="2331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9272016" y="35661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 Yuva Teja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272016" y="4206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2400030113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592056" y="4663440"/>
            <a:ext cx="1691640" cy="0"/>
          </a:xfrm>
          <a:prstGeom prst="line">
            <a:avLst/>
          </a:prstGeom>
          <a:noFill/>
          <a:ln w="12700">
            <a:solidFill>
              <a:srgbClr val="E1E8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317736" y="48006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Validation &amp; Documentation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Private DNS Zone Solution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822960" cy="0"/>
          </a:xfrm>
          <a:prstGeom prst="line">
            <a:avLst/>
          </a:prstGeom>
          <a:noFill/>
          <a:ln w="38100">
            <a:solidFill>
              <a:srgbClr val="5FC9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designs and implements an Azure Private DNS Zone solution that delivers reliable, secure name resolution for Private Endpoints across multiple Virtual Networks (VNets) and hybrid on-premises environments — eliminating public DNS exposure while keeping resolution fast and consistent.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40880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0408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26680" y="1600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Zones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19019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DNS Zones created per Azure service type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040880" y="24231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04088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726680" y="2377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Multi-VNet Linking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6791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linked to every VNet needing resolution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040880" y="3200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4088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3154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Resolution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26680" y="34564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Private Resolver bridges on-prem and Azure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040880" y="3977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408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726680" y="3931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Reliability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42336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 prevents silent DNS failures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749040"/>
            <a:ext cx="6035040" cy="2148840"/>
          </a:xfrm>
          <a:prstGeom prst="roundRect">
            <a:avLst>
              <a:gd name="adj" fmla="val 3404"/>
            </a:avLst>
          </a:prstGeom>
          <a:solidFill>
            <a:srgbClr val="21295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C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279392"/>
            <a:ext cx="5486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organizations adopt Private Endpoints at scale, DNS becomes the single point of failure for private connectivity. A well-architected DNS zone strategy is essential to keep services reachable, secure, and resolvable from every network segment.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Private DNS Zone Solution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822960" cy="0"/>
          </a:xfrm>
          <a:prstGeom prst="line">
            <a:avLst/>
          </a:prstGeom>
          <a:noFill/>
          <a:ln w="38100">
            <a:solidFill>
              <a:srgbClr val="5FC9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using Azure Private Endpoints need secure access to Azure services without exposing them to the public internet. When multiple VNets and on-premises networks are involved, correctly resolving private endpoint names becomes challenging.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48640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3145536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31455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30632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Exposure Risk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38328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private DNS, resolution can fall back to public endpoints, risking data exfiltration paths.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355080" y="2926080"/>
            <a:ext cx="548640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56248" y="3145536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56248" y="31455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30632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Cross-VNet Lookup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338328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Endpoint's name may resolve correctly in one VNet but fail in another that lacks a zone link.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548640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4654296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808" y="46542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5720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DNS Gaps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8920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resolvers cannot query Azure-internal Private DNS Zones without a bridging service.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355080" y="4434840"/>
            <a:ext cx="548640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56248" y="4654296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56248" y="46542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45720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Misconfiguration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269480" y="48920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VNet links or bad forwarding rules cause failures that surface only in production.</a:t>
            </a:r>
            <a:endParaRPr lang="en-US" sz="108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Private DNS Zone Solution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822960" cy="0"/>
          </a:xfrm>
          <a:prstGeom prst="line">
            <a:avLst/>
          </a:prstGeom>
          <a:noFill/>
          <a:ln w="38100">
            <a:solidFill>
              <a:srgbClr val="5FC9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FC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configure appropriate Private DNS Zones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7830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1920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FC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46888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the DNS zones to all required VNets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0" y="17830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0" y="1920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FC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246888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private endpoint name resolution across VNets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31520" y="4160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D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7091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Azure DNS Private Resolver for hybrid DNS scenarios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9120" y="40233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572000" y="4160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D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47091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DNS resolution from different VNets and on-premises networks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0" y="40233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412480" y="4160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D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8458200" y="47091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prevent failures from missing links or bad forwarding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Private DNS Zone Solution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/ Real-World Scenario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822960" cy="0"/>
          </a:xfrm>
          <a:prstGeom prst="line">
            <a:avLst/>
          </a:prstGeom>
          <a:noFill/>
          <a:ln w="38100">
            <a:solidFill>
              <a:srgbClr val="5FC9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financial services company runs workloads across two Azure VNets (Hub and Spoke) and maintains an on-premises data center connected via VPN/ExpressRoute. Application servers in both VNets — and staff on-premises — must securely reach an Azure Storage Account and SQL Database over Private Endpoints, using their fully-qualified domain names, with no public internet exposure.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2834640" cy="1554480"/>
          </a:xfrm>
          <a:prstGeom prst="roundRect">
            <a:avLst>
              <a:gd name="adj" fmla="val 4706"/>
            </a:avLst>
          </a:prstGeom>
          <a:solidFill>
            <a:srgbClr val="5B6B7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On-Premises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8404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network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VPN / ExpressRoute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3246120"/>
            <a:ext cx="2834640" cy="1554480"/>
          </a:xfrm>
          <a:prstGeom prst="roundRect">
            <a:avLst>
              <a:gd name="adj" fmla="val 4706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00600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 VNet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38404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Private Resolver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DNS Zones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0" y="3246120"/>
            <a:ext cx="2834640" cy="1554480"/>
          </a:xfrm>
          <a:prstGeom prst="roundRect">
            <a:avLst>
              <a:gd name="adj" fmla="val 4706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823960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Spoke VNet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823960" y="38404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SQL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0" y="4023360"/>
            <a:ext cx="1188720" cy="0"/>
          </a:xfrm>
          <a:prstGeom prst="line">
            <a:avLst/>
          </a:prstGeom>
          <a:noFill/>
          <a:ln w="25400">
            <a:solidFill>
              <a:srgbClr val="5B6B7C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7498080" y="4023360"/>
            <a:ext cx="1188720" cy="0"/>
          </a:xfrm>
          <a:prstGeom prst="line">
            <a:avLst/>
          </a:prstGeom>
          <a:noFill/>
          <a:ln w="25400">
            <a:solidFill>
              <a:srgbClr val="5B6B7C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3520440" y="3703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543800" y="3703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peered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212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every segment resolves privatelink.blob.core.windows.net and privatelink.database.windows.net to the correct private IP — every time.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Private DNS Zone Solution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Services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822960" cy="0"/>
          </a:xfrm>
          <a:prstGeom prst="line">
            <a:avLst/>
          </a:prstGeom>
          <a:noFill/>
          <a:ln w="38100">
            <a:solidFill>
              <a:srgbClr val="5FC9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5900" y="1984248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85900" y="19842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Private DNS Zone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DNS records for privatelink FQDNs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74136" y="178308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11396" y="1984248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11396" y="19842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11296" y="2788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DNS Private Resolver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511296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on-prem and Azure DNS resolution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99632" y="178308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6892" y="1984248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6892" y="19842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36792" y="2788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Network (VNet)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36792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workloads and endpoint subnets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025128" y="178308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962388" y="1984248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962388" y="19842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162288" y="2788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162288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 PaaS service to a private IP in VNet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4142232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485900" y="43434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485900" y="4343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51480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 Peering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560527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Hub and Spoke VNets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74136" y="4142232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11396" y="434340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311396" y="4343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3511296" y="51480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Account / SQL DB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511296" y="560527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PaaS services behind endpoints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99632" y="4142232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36892" y="43434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136892" y="4343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336792" y="51480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Group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336792" y="560527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subnet-level traffic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025128" y="4142232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962388" y="43434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962388" y="4343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9162288" y="51480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/ Log Analytics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162288" y="560527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DNS query health &amp; diagnostics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Private DNS Zone Solution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822960" cy="0"/>
          </a:xfrm>
          <a:prstGeom prst="line">
            <a:avLst/>
          </a:prstGeom>
          <a:noFill/>
          <a:ln w="38100">
            <a:solidFill>
              <a:srgbClr val="5FC9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920240"/>
            <a:ext cx="2286000" cy="4023360"/>
          </a:xfrm>
          <a:prstGeom prst="roundRect">
            <a:avLst>
              <a:gd name="adj" fmla="val 3200"/>
            </a:avLst>
          </a:prstGeom>
          <a:solidFill>
            <a:srgbClr val="16274A"/>
          </a:solidFill>
          <a:ln w="12700">
            <a:solidFill>
              <a:srgbClr val="33507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234440" y="24688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246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Forwarder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Resolver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3931920"/>
            <a:ext cx="1554480" cy="0"/>
          </a:xfrm>
          <a:prstGeom prst="line">
            <a:avLst/>
          </a:prstGeom>
          <a:noFill/>
          <a:ln w="12700">
            <a:solidFill>
              <a:srgbClr val="33507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4023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/ ExpressRoute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63240" y="1920240"/>
            <a:ext cx="3291840" cy="4023360"/>
          </a:xfrm>
          <a:prstGeom prst="roundRect">
            <a:avLst>
              <a:gd name="adj" fmla="val 2222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24612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VNet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80560" y="251460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8056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246120" y="3291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Resolver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91840" y="397764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0B4560"/>
          </a:solidFill>
          <a:ln w="12700">
            <a:solidFill>
              <a:srgbClr val="5FC9C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83280" y="4069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DNS Zones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privatelink.*.windows.net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246120" y="4983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Hub + Spoke VNets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20840" y="1920240"/>
            <a:ext cx="2743200" cy="4023360"/>
          </a:xfrm>
          <a:prstGeom prst="roundRect">
            <a:avLst>
              <a:gd name="adj" fmla="val 2667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0372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 VNet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63840" y="251460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86384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949440" y="3749040"/>
            <a:ext cx="22860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949440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Account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49440" y="4480560"/>
            <a:ext cx="22860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949440" y="4572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Database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88920" y="3931920"/>
            <a:ext cx="274320" cy="0"/>
          </a:xfrm>
          <a:prstGeom prst="line">
            <a:avLst/>
          </a:prstGeom>
          <a:noFill/>
          <a:ln w="25400">
            <a:solidFill>
              <a:srgbClr val="5FC9C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3931920"/>
            <a:ext cx="365760" cy="0"/>
          </a:xfrm>
          <a:prstGeom prst="line">
            <a:avLst/>
          </a:prstGeom>
          <a:noFill/>
          <a:ln w="25400">
            <a:solidFill>
              <a:srgbClr val="5FC9C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601200" y="2011680"/>
            <a:ext cx="2194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
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On-prem resolver forwards *.windows.net queries to the Private Resolver's inbound endpoint.
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Private Resolver queries the linked Private DNS Zones.
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Spoke VNet resolves the same zones directly via VNet link.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Private DNS Zone Solution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Resource Configuration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822960" cy="0"/>
          </a:xfrm>
          <a:prstGeom prst="line">
            <a:avLst/>
          </a:prstGeom>
          <a:noFill/>
          <a:ln w="38100">
            <a:solidFill>
              <a:srgbClr val="5FC9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783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Type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/ Identifier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72084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2402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Group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2402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rg-privatedns-demo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22402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container for all DNS &amp; networking resources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807208"/>
            <a:ext cx="11064240" cy="566928"/>
          </a:xfrm>
          <a:prstGeom prst="rect">
            <a:avLst/>
          </a:prstGeom>
          <a:solidFill>
            <a:srgbClr val="EAF1F6"/>
          </a:solidFill>
          <a:ln w="9525">
            <a:solidFill>
              <a:srgbClr val="E1E8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80720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DNS Zone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80720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privatelink.blob.core.windows.net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280720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for Storage Account private endpoint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374136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37413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DNS Zone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337413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privatelink.database.windows.net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337413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for Azure SQL private endpoint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941064"/>
            <a:ext cx="11064240" cy="566928"/>
          </a:xfrm>
          <a:prstGeom prst="rect">
            <a:avLst/>
          </a:prstGeom>
          <a:solidFill>
            <a:srgbClr val="EAF1F6"/>
          </a:solidFill>
          <a:ln w="9525">
            <a:solidFill>
              <a:srgbClr val="E1E8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94106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 Links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94106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hub-link, spoke-link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720840" y="394106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Associates each zone with Hub and Spoke VNets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507992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45079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Private Resolver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450799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dns-resolver-hub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720840" y="450799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in Hub VNet with inbound/outbound endpoints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074920"/>
            <a:ext cx="11064240" cy="566928"/>
          </a:xfrm>
          <a:prstGeom prst="rect">
            <a:avLst/>
          </a:prstGeom>
          <a:solidFill>
            <a:srgbClr val="EAF1F6"/>
          </a:solidFill>
          <a:ln w="9525">
            <a:solidFill>
              <a:srgbClr val="E1E8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50749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Endpoints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429000" y="507492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pe-storage, pe-sql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720840" y="507492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in Spoke VNet subnet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Private DNS Zone Solution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Approach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822960" cy="0"/>
          </a:xfrm>
          <a:prstGeom prst="line">
            <a:avLst/>
          </a:prstGeom>
          <a:noFill/>
          <a:ln w="38100">
            <a:solidFill>
              <a:srgbClr val="5FC9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3794760"/>
            <a:ext cx="9189720" cy="0"/>
          </a:xfrm>
          <a:prstGeom prst="line">
            <a:avLst/>
          </a:prstGeom>
          <a:noFill/>
          <a:ln w="38100">
            <a:solidFill>
              <a:srgbClr val="E1E8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52728" y="353872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52728" y="3538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508760" y="3291840"/>
            <a:ext cx="0" cy="246888"/>
          </a:xfrm>
          <a:prstGeom prst="line">
            <a:avLst/>
          </a:prstGeom>
          <a:noFill/>
          <a:ln w="12700">
            <a:solidFill>
              <a:srgbClr val="E1E8EE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548640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Design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72491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naming conventions, zone scope, and VNet topology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3090672" y="353872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090672" y="3538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46704" y="4050792"/>
            <a:ext cx="0" cy="201168"/>
          </a:xfrm>
          <a:prstGeom prst="line">
            <a:avLst/>
          </a:prstGeom>
          <a:noFill/>
          <a:ln w="12700">
            <a:solidFill>
              <a:srgbClr val="E1E8EE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2386584" y="4251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DNS Zones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295144" y="459943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Private DNS Zones for each PaaS service type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4928616" y="353872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28616" y="3538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84648" y="3291840"/>
            <a:ext cx="0" cy="246888"/>
          </a:xfrm>
          <a:prstGeom prst="line">
            <a:avLst/>
          </a:prstGeom>
          <a:noFill/>
          <a:ln w="12700">
            <a:solidFill>
              <a:srgbClr val="E1E8EE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4224528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VNets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133088" y="272491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virtual network links for Hub and Spoke VNets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6766560" y="353872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66560" y="3538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022592" y="4050792"/>
            <a:ext cx="0" cy="201168"/>
          </a:xfrm>
          <a:prstGeom prst="line">
            <a:avLst/>
          </a:prstGeom>
          <a:noFill/>
          <a:ln w="12700">
            <a:solidFill>
              <a:srgbClr val="E1E8EE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6062472" y="4251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Endpoints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971032" y="459943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Private Endpoints and register DNS records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8604504" y="353872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604504" y="3538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860536" y="3291840"/>
            <a:ext cx="0" cy="246888"/>
          </a:xfrm>
          <a:prstGeom prst="line">
            <a:avLst/>
          </a:prstGeom>
          <a:noFill/>
          <a:ln w="12700">
            <a:solidFill>
              <a:srgbClr val="E1E8EE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7900416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Hybrid DNS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808976" y="272491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DNS Private Resolver for on-prem integration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10442448" y="3538728"/>
            <a:ext cx="512064" cy="512064"/>
          </a:xfrm>
          <a:prstGeom prst="ellipse">
            <a:avLst/>
          </a:prstGeom>
          <a:solidFill>
            <a:srgbClr val="5FC9C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442448" y="3538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698480" y="4050792"/>
            <a:ext cx="0" cy="201168"/>
          </a:xfrm>
          <a:prstGeom prst="line">
            <a:avLst/>
          </a:prstGeom>
          <a:noFill/>
          <a:ln w="12700">
            <a:solidFill>
              <a:srgbClr val="E1E8EE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9738360" y="4251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9646920" y="459943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resolution from every network segment</a:t>
            </a:r>
            <a:endParaRPr lang="en-US" sz="98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Private DNS Zone Solution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&amp; Deployment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822960" cy="0"/>
          </a:xfrm>
          <a:prstGeom prst="line">
            <a:avLst/>
          </a:prstGeom>
          <a:noFill/>
          <a:ln w="38100">
            <a:solidFill>
              <a:srgbClr val="5FC9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Azure CLI commands used during deployment: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7315200" cy="4023360"/>
          </a:xfrm>
          <a:prstGeom prst="roundRect">
            <a:avLst>
              <a:gd name="adj" fmla="val 1818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94560"/>
            <a:ext cx="6858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BE7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Private DNS Zone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BE7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network private-dns zone create -g rg-privatedns-demo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BE7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-n privatelink.blob.core.windows.net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BE7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Link the zone to the Hub VNet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BE7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network private-dns link vnet create -g rg-privatedns-demo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BE7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-n hub-link -z privatelink.blob.core.windows.net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BE7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 hub-vnet -e false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BE7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Private Endpoint for Storage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BE7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network private-endpoint create -g rg-privatedns-demo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BE7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-n pe-storage --vnet-name spoke-vnet --subnet pe-subnet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BE7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--private-connection-resource-id &lt;storage-id&gt;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BE7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--group-id blob --connection-name pe-storage-conn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0" y="21488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823960" y="21031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/ Bicep templates for repeatable deployment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0" y="3063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823960" y="30175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CLI scripts for zone, link &amp; endpoint creation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0" y="3977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823960" y="39319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via DevOps pipeline for consistency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0" y="48920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823960" y="48463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settings enabled at deployment time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Private DNS Zone Solution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Access Management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822960" cy="0"/>
          </a:xfrm>
          <a:prstGeom prst="line">
            <a:avLst/>
          </a:prstGeom>
          <a:noFill/>
          <a:ln w="38100">
            <a:solidFill>
              <a:srgbClr val="5FC9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1168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984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35000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DNS Zone Contributor scoped to the networking team only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01168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1984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Network Access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235000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services configured to deny public endpoint access entirely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25196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251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Groups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59028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Subnet-level rules restrict traffic to approved sources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402336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425196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37960" y="4251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459028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Activity Log tracks every DNS zone and link change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Private DNS Zone Solution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Networking Configuration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822960" cy="0"/>
          </a:xfrm>
          <a:prstGeom prst="line">
            <a:avLst/>
          </a:prstGeom>
          <a:noFill/>
          <a:ln w="38100">
            <a:solidFill>
              <a:srgbClr val="5FC9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4206240" cy="3017520"/>
          </a:xfrm>
          <a:prstGeom prst="roundRect">
            <a:avLst>
              <a:gd name="adj" fmla="val 2424"/>
            </a:avLst>
          </a:prstGeom>
          <a:solidFill>
            <a:srgbClr val="16274A"/>
          </a:solidFill>
          <a:ln w="15875">
            <a:solidFill>
              <a:srgbClr val="5FC9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22677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VNet  10.0.0.0/16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88720" y="2743200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25880" y="27432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Subnet 10.0.0.0/28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188720" y="3749040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25880" y="37490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Subnet 10.0.1.0/27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92240" y="2103120"/>
            <a:ext cx="4206240" cy="3017520"/>
          </a:xfrm>
          <a:prstGeom prst="roundRect">
            <a:avLst>
              <a:gd name="adj" fmla="val 2424"/>
            </a:avLst>
          </a:prstGeom>
          <a:solidFill>
            <a:srgbClr val="16274A"/>
          </a:solidFill>
          <a:ln w="15875">
            <a:solidFill>
              <a:srgbClr val="5FC9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20840" y="22677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 VNet  10.1.0.0/16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66560" y="2743200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03720" y="27432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Subnet 10.1.0.0/24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766560" y="3749040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37490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Subnet 10.1.1.0/27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120640" y="3611880"/>
            <a:ext cx="1371600" cy="0"/>
          </a:xfrm>
          <a:prstGeom prst="line">
            <a:avLst/>
          </a:prstGeom>
          <a:noFill/>
          <a:ln w="25400">
            <a:solidFill>
              <a:srgbClr val="5FC9C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20640" y="3200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 Peering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3492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Zone Links: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VNets are linked to privatelink.blob.core.windows.net and privatelink.database.windows.net so records resolve identically on either side of the peering.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Private DNS Zone Solution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Configuration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822960" cy="0"/>
          </a:xfrm>
          <a:prstGeom prst="line">
            <a:avLst/>
          </a:prstGeom>
          <a:noFill/>
          <a:ln w="38100">
            <a:solidFill>
              <a:srgbClr val="5FC9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Storage Account is configured with public network access disabled, exposed only through a Private Endpoint in the Spoke VNet's PE subnet. DNS integration ensures the standard blob FQDN resolves privately from every connected network.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" y="3246120"/>
            <a:ext cx="292608" cy="292608"/>
          </a:xfrm>
          <a:prstGeom prst="ellipse">
            <a:avLst/>
          </a:prstGeom>
          <a:solidFill>
            <a:srgbClr val="1E7E3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3246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200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network access: Disabled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3813048"/>
            <a:ext cx="292608" cy="292608"/>
          </a:xfrm>
          <a:prstGeom prst="ellipse">
            <a:avLst/>
          </a:prstGeom>
          <a:solidFill>
            <a:srgbClr val="1E7E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813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7673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Endpoint: pe-storage (blob sub-resource)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4379976"/>
            <a:ext cx="292608" cy="292608"/>
          </a:xfrm>
          <a:prstGeom prst="ellipse">
            <a:avLst/>
          </a:prstGeom>
          <a:solidFill>
            <a:srgbClr val="1E7E3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4379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33425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zone group: auto-registers A record in privatelink.blob.core.windows.net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" y="4946904"/>
            <a:ext cx="292608" cy="292608"/>
          </a:xfrm>
          <a:prstGeom prst="ellipse">
            <a:avLst/>
          </a:prstGeom>
          <a:solidFill>
            <a:srgbClr val="1E7E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4946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490118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Firewall: deny-all with trusted-service exceptions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040880" y="1691640"/>
            <a:ext cx="4572000" cy="4206240"/>
          </a:xfrm>
          <a:prstGeom prst="roundRect">
            <a:avLst>
              <a:gd name="adj" fmla="val 1739"/>
            </a:avLst>
          </a:prstGeom>
          <a:solidFill>
            <a:srgbClr val="21295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26948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DNS Record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269480" y="2331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458200" y="23317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privatelink.blob.core.windows.net</a:t>
            </a:r>
            <a:endParaRPr lang="en-US" sz="103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29900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458200" y="299008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mystorageacct.privatelink.blob.core.windows.net</a:t>
            </a:r>
            <a:endParaRPr lang="en-US" sz="103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36484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458200" y="364845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30" dirty="0"/>
          </a:p>
        </p:txBody>
      </p:sp>
      <p:sp>
        <p:nvSpPr>
          <p:cNvPr id="26" name="Text 24"/>
          <p:cNvSpPr txBox="1"/>
          <p:nvPr/>
        </p:nvSpPr>
        <p:spPr>
          <a:xfrm>
            <a:off x="7269480" y="430682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458200" y="4306824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10.1.1.4 (private endpoint NIC IP)</a:t>
            </a:r>
            <a:endParaRPr lang="en-US" sz="1030" dirty="0"/>
          </a:p>
        </p:txBody>
      </p:sp>
      <p:sp>
        <p:nvSpPr>
          <p:cNvPr id="28" name="Text 26"/>
          <p:cNvSpPr txBox="1"/>
          <p:nvPr/>
        </p:nvSpPr>
        <p:spPr>
          <a:xfrm>
            <a:off x="7269480" y="49651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458200" y="496519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3600s</a:t>
            </a:r>
            <a:endParaRPr lang="en-US" sz="103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Private DNS Zone Solution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&amp; Management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822960" cy="0"/>
          </a:xfrm>
          <a:prstGeom prst="line">
            <a:avLst/>
          </a:prstGeom>
          <a:noFill/>
          <a:ln w="38100">
            <a:solidFill>
              <a:srgbClr val="5FC9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40180" y="21031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4018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108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7490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platform metrics for DNS zones and the Private Resolver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10712" y="17830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02252" y="21031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02252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3108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Analytics Workspace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37490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store for DNS query and resolution diagnostics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72784" y="17830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64324" y="2103120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64324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9944" y="3108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Rules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55664" y="37490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on failed VNet links or resolver endpoint health issues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34856" y="17830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026396" y="21031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26396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272016" y="3108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9317736" y="37490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query volume, latency and failed-resolution trends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Private DNS Zone Solution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Validation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822960" cy="0"/>
          </a:xfrm>
          <a:prstGeom prst="line">
            <a:avLst/>
          </a:prstGeom>
          <a:noFill/>
          <a:ln w="38100">
            <a:solidFill>
              <a:srgbClr val="5FC9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97764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783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78440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2402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nslookup storage FQDN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22402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VNet VM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2402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to private IP 10.1.1.4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424160" y="2350008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E4F5EA"/>
          </a:solidFill>
          <a:ln w="9525">
            <a:solidFill>
              <a:srgbClr val="1E7E3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424160" y="23500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807208"/>
            <a:ext cx="11064240" cy="566928"/>
          </a:xfrm>
          <a:prstGeom prst="rect">
            <a:avLst/>
          </a:prstGeom>
          <a:solidFill>
            <a:srgbClr val="EAF1F6"/>
          </a:solidFill>
          <a:ln w="9525">
            <a:solidFill>
              <a:srgbClr val="E1E8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80720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nslookup storage FQDN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977640" y="280720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 VNet VM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80720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to private IP 10.1.1.4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424160" y="2916936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E4F5EA"/>
          </a:solidFill>
          <a:ln w="9525">
            <a:solidFill>
              <a:srgbClr val="1E7E3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424160" y="29169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374136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37413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nslookup SQL FQDN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977640" y="337413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host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355080" y="337413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via DNS Private Resolver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424160" y="3483864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E4F5EA"/>
          </a:solidFill>
          <a:ln w="9525">
            <a:solidFill>
              <a:srgbClr val="1E7E3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424160" y="348386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941064"/>
            <a:ext cx="11064240" cy="566928"/>
          </a:xfrm>
          <a:prstGeom prst="rect">
            <a:avLst/>
          </a:prstGeom>
          <a:solidFill>
            <a:srgbClr val="EAF1F6"/>
          </a:solidFill>
          <a:ln w="9525">
            <a:solidFill>
              <a:srgbClr val="E1E8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394106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w/o VNet link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977640" y="394106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test VNet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355080" y="3941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— confirms link is required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424160" y="4050792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E4F5EA"/>
          </a:solidFill>
          <a:ln w="9525">
            <a:solidFill>
              <a:srgbClr val="1E7E3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424160" y="40507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507992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450799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Forwarding rule check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977640" y="450799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DNS server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355080" y="450799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forwarder validated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424160" y="4617720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E4F5EA"/>
          </a:solidFill>
          <a:ln w="9525">
            <a:solidFill>
              <a:srgbClr val="1E7E3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424160" y="46177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Private DNS Zone Solution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&amp; Solutions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822960" cy="0"/>
          </a:xfrm>
          <a:prstGeom prst="line">
            <a:avLst/>
          </a:prstGeom>
          <a:noFill/>
          <a:ln w="38100">
            <a:solidFill>
              <a:srgbClr val="5FC9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783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160520" y="1783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81812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Applied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11064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2402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 VNet couldn't resolve storage FQDN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224028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not linked to Spoke VNet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818120" y="22402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missing virtual network link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11064240" cy="960120"/>
          </a:xfrm>
          <a:prstGeom prst="rect">
            <a:avLst/>
          </a:prstGeom>
          <a:solidFill>
            <a:srgbClr val="EAF1F6"/>
          </a:solidFill>
          <a:ln w="9525">
            <a:solidFill>
              <a:srgbClr val="E1E8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2004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clients got public IP for FQDN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160520" y="320040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forwarding rule to Azure DNS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818120" y="32004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conditional forwarder to Resolver inbound IP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11064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416052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Intermittent resolution failures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160520" y="416052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inbound endpoint in wrong subnet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818120" y="416052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Redeployed with dedicated delegated subnet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120640"/>
            <a:ext cx="11064240" cy="960120"/>
          </a:xfrm>
          <a:prstGeom prst="rect">
            <a:avLst/>
          </a:prstGeom>
          <a:solidFill>
            <a:srgbClr val="EAF1F6"/>
          </a:solidFill>
          <a:ln w="9525">
            <a:solidFill>
              <a:srgbClr val="E1E8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512064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DNS records after redeploy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160520" y="512064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record left behind zone group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818120" y="51206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private DNS zone group for auto-lifecycle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Private DNS Zone Solution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/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822960" cy="0"/>
          </a:xfrm>
          <a:prstGeom prst="line">
            <a:avLst/>
          </a:prstGeom>
          <a:noFill/>
          <a:ln w="38100">
            <a:solidFill>
              <a:srgbClr val="5FC9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6274A"/>
          </a:solidFill>
          <a:ln w="12700">
            <a:solidFill>
              <a:srgbClr val="33507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3774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FC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375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 FQDNs resolved correctly across all VNets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10712" y="21031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6274A"/>
          </a:solidFill>
          <a:ln w="12700">
            <a:solidFill>
              <a:srgbClr val="33507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02152" y="23774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FC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15ms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3639312" y="33375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DNS resolution latency via Private Resolver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72784" y="21031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6274A"/>
          </a:solidFill>
          <a:ln w="12700">
            <a:solidFill>
              <a:srgbClr val="33507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64224" y="23774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FC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6501384" y="33375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internet exposure for PaaS service traffic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34856" y="21031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6274A"/>
          </a:solidFill>
          <a:ln w="12700">
            <a:solidFill>
              <a:srgbClr val="33507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26296" y="23774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FC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5</a:t>
            </a:r>
            <a:endParaRPr lang="en-US" sz="3800" dirty="0"/>
          </a:p>
        </p:txBody>
      </p:sp>
      <p:sp>
        <p:nvSpPr>
          <p:cNvPr id="16" name="Text 14"/>
          <p:cNvSpPr txBox="1"/>
          <p:nvPr/>
        </p:nvSpPr>
        <p:spPr>
          <a:xfrm>
            <a:off x="9363456" y="33375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 passed, including hybrid on-prem lookups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846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confirm that correctly-linked Private DNS Zones combined with DNS Private Resolver deliver consistent, low-latency, fully private name resolution across hybrid environments.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Private DNS Zone Solution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Considerations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822960" cy="0"/>
          </a:xfrm>
          <a:prstGeom prst="line">
            <a:avLst/>
          </a:prstGeom>
          <a:noFill/>
          <a:ln w="38100">
            <a:solidFill>
              <a:srgbClr val="5FC9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70332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Driver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63524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Tip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2402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DNS Zone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2240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zone + per million queries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22402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zones by service type, not per app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11064240" cy="777240"/>
          </a:xfrm>
          <a:prstGeom prst="rect">
            <a:avLst/>
          </a:prstGeom>
          <a:solidFill>
            <a:srgbClr val="EAF1F6"/>
          </a:solidFill>
          <a:ln w="9525">
            <a:solidFill>
              <a:srgbClr val="E1E8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017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Private Resolver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30175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endpoint, hourly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635240" y="30175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one Resolver across all spokes via Hub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7947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703320" y="37947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endpoint, hourly + data processed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635240" y="37947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create endpoints for services that need them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11064240" cy="777240"/>
          </a:xfrm>
          <a:prstGeom prst="rect">
            <a:avLst/>
          </a:prstGeom>
          <a:solidFill>
            <a:srgbClr val="EAF1F6"/>
          </a:solidFill>
          <a:ln w="9525">
            <a:solidFill>
              <a:srgbClr val="E1E8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45720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 Peering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703320" y="4572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GB data transferred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635240" y="45720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chatty traffic within the same region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DNS and resolver costs are minor compared to compute/storage — the main lever is avoiding redundant per-VNet resolver deployments.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Private DNS Zone Solution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Learned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822960" cy="0"/>
          </a:xfrm>
          <a:prstGeom prst="line">
            <a:avLst/>
          </a:prstGeom>
          <a:noFill/>
          <a:ln w="38100">
            <a:solidFill>
              <a:srgbClr val="5FC9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830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34440" y="1737360"/>
            <a:ext cx="10424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63040" y="1737360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VNet link is the single most common cause of private endpoint resolution failure.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6517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34440" y="2606040"/>
            <a:ext cx="10424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63040" y="2606040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scenarios always need a DNS Private Resolver — on-prem resolvers cannot query Azure-internal zones directly.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352044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34440" y="3474720"/>
            <a:ext cx="10424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63040" y="3474720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zone creation and linking via IaC prevents configuration drift between environments.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43891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234440" y="4343400"/>
            <a:ext cx="10424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463040" y="4343400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DNS query monitoring catches failures before they reach application teams.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" y="52578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234440" y="5212080"/>
            <a:ext cx="10424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463040" y="5212080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conventions for zones and records matter more than expected — consistency avoids ambiguity at scale.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Private DNS Zone Solution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822960" cy="0"/>
          </a:xfrm>
          <a:prstGeom prst="line">
            <a:avLst/>
          </a:prstGeom>
          <a:noFill/>
          <a:ln w="38100">
            <a:solidFill>
              <a:srgbClr val="5FC9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1168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9842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Compliance Checks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49631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 to flag PaaS resources missing private endpoints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01168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19842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DNS Failover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249631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design with regional resolvers for disaster recovery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25196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251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2245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Infrastructure as Code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73659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all manual steps to Bicep/Terraform modules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402336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425196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37960" y="4251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42245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Network Expansion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473659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same pattern to additional PaaS services org-wide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Private DNS Zone Solution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822960" cy="0"/>
          </a:xfrm>
          <a:prstGeom prst="line">
            <a:avLst/>
          </a:prstGeom>
          <a:noFill/>
          <a:ln w="38100">
            <a:solidFill>
              <a:srgbClr val="5FC9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designed and implemented an Azure Private DNS Zone solution that resolves Private Endpoint names reliably across multiple VNets and hybrid on-premises networks. By combining correctly-linked Private DNS Zones with an Azure DNS Private Resolver, the solution eliminates public exposure, prevents silent DNS failures, and provides a repeatable, secure pattern for enterprise-scale private connectivity.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0233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16274A"/>
          </a:solidFill>
          <a:ln w="12700">
            <a:solidFill>
              <a:srgbClr val="5FC9C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02336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design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40233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16274A"/>
          </a:solidFill>
          <a:ln w="12700">
            <a:solidFill>
              <a:srgbClr val="5FC9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402336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across VNets &amp; on-prem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0" y="40233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16274A"/>
          </a:solidFill>
          <a:ln w="12700">
            <a:solidFill>
              <a:srgbClr val="5FC9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0" y="402336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&amp; monitored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Private DNS Zone Solution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55768" y="1737360"/>
            <a:ext cx="1280160" cy="1280160"/>
          </a:xfrm>
          <a:prstGeom prst="ellipse">
            <a:avLst/>
          </a:prstGeom>
          <a:solidFill>
            <a:srgbClr val="5FC9C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55768" y="17373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0" y="324612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0" y="40690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Private DNS Zones  •  Linking VNets  •  Resolving Private Endpoints Live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Private DNS Zone Solution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128016" cy="128016"/>
          </a:xfrm>
          <a:prstGeom prst="ellipse">
            <a:avLst/>
          </a:prstGeom>
          <a:solidFill>
            <a:srgbClr val="5FC9C0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64008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463040" y="1463040"/>
            <a:ext cx="128016" cy="128016"/>
          </a:xfrm>
          <a:prstGeom prst="ellipse">
            <a:avLst/>
          </a:prstGeom>
          <a:solidFill>
            <a:srgbClr val="5FC9C0"/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0" y="530352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9966960" y="5760720"/>
            <a:ext cx="128016" cy="128016"/>
          </a:xfrm>
          <a:prstGeom prst="ellipse">
            <a:avLst/>
          </a:prstGeom>
          <a:solidFill>
            <a:srgbClr val="5FC9C0"/>
          </a:solidFill>
          <a:ln/>
        </p:spPr>
      </p:sp>
      <p:sp>
        <p:nvSpPr>
          <p:cNvPr id="7" name="Shape 5"/>
          <p:cNvSpPr/>
          <p:nvPr/>
        </p:nvSpPr>
        <p:spPr>
          <a:xfrm>
            <a:off x="11247120" y="585216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0" y="265176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Answers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0" y="35204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2400030424 Aluru Sai Vamsi   •   2400030297 Gudivada Dundi Sankar Abhinash   •   2400030207 Thanniru Anusha   •   2400030113 Regu Yuva Teja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2026-09-26T14:15:11Z</dcterms:created>
  <dcterms:modified xsi:type="dcterms:W3CDTF">2026-09-26T14:15:11Z</dcterms:modified>
</cp:coreProperties>
</file>